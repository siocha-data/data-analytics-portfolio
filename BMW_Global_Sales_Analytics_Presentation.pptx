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7" r:id="rId7"/>
    <p:sldId id="268" r:id="rId8"/>
    <p:sldId id="272" r:id="rId9"/>
    <p:sldId id="269" r:id="rId10"/>
    <p:sldId id="274" r:id="rId11"/>
    <p:sldId id="273" r:id="rId12"/>
    <p:sldId id="270" r:id="rId13"/>
    <p:sldId id="275" r:id="rId14"/>
    <p:sldId id="271" r:id="rId15"/>
    <p:sldId id="264" r:id="rId16"/>
    <p:sldId id="276" r:id="rId17"/>
    <p:sldId id="277" r:id="rId18"/>
    <p:sldId id="278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BMW Global Sales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Project</a:t>
            </a:r>
          </a:p>
          <a:p>
            <a:r>
              <a:t>Power BI &amp; Power Query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BMW global sales</a:t>
            </a:r>
          </a:p>
          <a:p>
            <a:r>
              <a:t>Create clean star schema</a:t>
            </a:r>
          </a:p>
          <a:p>
            <a:r>
              <a:t>Develop executive KPIs</a:t>
            </a:r>
          </a:p>
          <a:p>
            <a:r>
              <a:t>Tell a data-driven 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analysis evaluates BMW’s global sales performance using a structured star schema model and interactive Power BI dashboard.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dataset was cleaned and transformed using Power Query, with categorical dimensions created to support strategic analysis across markets, products, and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Star Schema Design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8" t="22544" r="29073" b="10440"/>
          <a:stretch/>
        </p:blipFill>
        <p:spPr>
          <a:xfrm>
            <a:off x="0" y="1260089"/>
            <a:ext cx="9144000" cy="55979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KPIs</a:t>
            </a:r>
            <a:endParaRPr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4" t="17862" r="21312" b="13150"/>
          <a:stretch/>
        </p:blipFill>
        <p:spPr>
          <a:xfrm>
            <a:off x="131187" y="1315844"/>
            <a:ext cx="8881625" cy="554215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KPIs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6" t="18602" r="26162" b="40252"/>
          <a:stretch/>
        </p:blipFill>
        <p:spPr>
          <a:xfrm>
            <a:off x="251671" y="1739589"/>
            <a:ext cx="8640658" cy="3947533"/>
          </a:xfrm>
        </p:spPr>
      </p:pic>
    </p:spTree>
    <p:extLst>
      <p:ext uri="{BB962C8B-B14F-4D97-AF65-F5344CB8AC3E}">
        <p14:creationId xmlns:p14="http://schemas.microsoft.com/office/powerpoint/2010/main" val="2152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Market Performance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1" t="17617" r="26024" b="11918"/>
          <a:stretch/>
        </p:blipFill>
        <p:spPr>
          <a:xfrm>
            <a:off x="217448" y="1260087"/>
            <a:ext cx="8709103" cy="5277126"/>
          </a:xfrm>
        </p:spPr>
      </p:pic>
    </p:spTree>
    <p:extLst>
      <p:ext uri="{BB962C8B-B14F-4D97-AF65-F5344CB8AC3E}">
        <p14:creationId xmlns:p14="http://schemas.microsoft.com/office/powerpoint/2010/main" val="181959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Market Performance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3" t="17617" r="21312" b="11918"/>
          <a:stretch/>
        </p:blipFill>
        <p:spPr>
          <a:xfrm>
            <a:off x="262053" y="1417638"/>
            <a:ext cx="8619893" cy="4862504"/>
          </a:xfrm>
        </p:spPr>
      </p:pic>
    </p:spTree>
    <p:extLst>
      <p:ext uri="{BB962C8B-B14F-4D97-AF65-F5344CB8AC3E}">
        <p14:creationId xmlns:p14="http://schemas.microsoft.com/office/powerpoint/2010/main" val="307209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551" y="-171410"/>
            <a:ext cx="6858000" cy="862786"/>
          </a:xfrm>
        </p:spPr>
        <p:txBody>
          <a:bodyPr/>
          <a:lstStyle/>
          <a:p>
            <a:r>
              <a:rPr lang="en-US" b="1" dirty="0" smtClean="0"/>
              <a:t>Product Strategy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2" t="17370" r="40160" b="11918"/>
          <a:stretch/>
        </p:blipFill>
        <p:spPr>
          <a:xfrm>
            <a:off x="63244" y="1037063"/>
            <a:ext cx="9080756" cy="5531005"/>
          </a:xfrm>
        </p:spPr>
      </p:pic>
    </p:spTree>
    <p:extLst>
      <p:ext uri="{BB962C8B-B14F-4D97-AF65-F5344CB8AC3E}">
        <p14:creationId xmlns:p14="http://schemas.microsoft.com/office/powerpoint/2010/main" val="377349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551" y="-171410"/>
            <a:ext cx="6858000" cy="862786"/>
          </a:xfrm>
        </p:spPr>
        <p:txBody>
          <a:bodyPr/>
          <a:lstStyle/>
          <a:p>
            <a:r>
              <a:rPr lang="en-US" b="1" dirty="0" smtClean="0"/>
              <a:t>Product Strategy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7" t="17371" r="21342" b="12385"/>
          <a:stretch/>
        </p:blipFill>
        <p:spPr>
          <a:xfrm>
            <a:off x="59886" y="1137422"/>
            <a:ext cx="9024228" cy="508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5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Product Strategy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4" t="17370" r="21450" b="11918"/>
          <a:stretch/>
        </p:blipFill>
        <p:spPr>
          <a:xfrm>
            <a:off x="189571" y="1326994"/>
            <a:ext cx="8820613" cy="5419493"/>
          </a:xfrm>
        </p:spPr>
      </p:pic>
    </p:spTree>
    <p:extLst>
      <p:ext uri="{BB962C8B-B14F-4D97-AF65-F5344CB8AC3E}">
        <p14:creationId xmlns:p14="http://schemas.microsoft.com/office/powerpoint/2010/main" val="12854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Financial Insights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3" t="17124" r="21035" b="11425"/>
          <a:stretch/>
        </p:blipFill>
        <p:spPr>
          <a:xfrm>
            <a:off x="278780" y="1293541"/>
            <a:ext cx="8586439" cy="4892076"/>
          </a:xfrm>
        </p:spPr>
      </p:pic>
    </p:spTree>
    <p:extLst>
      <p:ext uri="{BB962C8B-B14F-4D97-AF65-F5344CB8AC3E}">
        <p14:creationId xmlns:p14="http://schemas.microsoft.com/office/powerpoint/2010/main" val="81413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Financial Insights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4" t="17370" r="81183" b="55281"/>
          <a:stretch/>
        </p:blipFill>
        <p:spPr>
          <a:xfrm>
            <a:off x="646769" y="1184081"/>
            <a:ext cx="3780265" cy="5521178"/>
          </a:xfrm>
        </p:spPr>
      </p:pic>
    </p:spTree>
    <p:extLst>
      <p:ext uri="{BB962C8B-B14F-4D97-AF65-F5344CB8AC3E}">
        <p14:creationId xmlns:p14="http://schemas.microsoft.com/office/powerpoint/2010/main" val="14439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Time Trends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1" t="17370" r="21450" b="11672"/>
          <a:stretch/>
        </p:blipFill>
        <p:spPr>
          <a:xfrm>
            <a:off x="245326" y="1561170"/>
            <a:ext cx="8653347" cy="4934979"/>
          </a:xfrm>
        </p:spPr>
      </p:pic>
    </p:spTree>
    <p:extLst>
      <p:ext uri="{BB962C8B-B14F-4D97-AF65-F5344CB8AC3E}">
        <p14:creationId xmlns:p14="http://schemas.microsoft.com/office/powerpoint/2010/main" val="20222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Revenue is more concentrated than sales volume</a:t>
            </a:r>
          </a:p>
          <a:p>
            <a:r>
              <a:rPr lang="en-US" dirty="0"/>
              <a:t>Although multiple BMW models contribute to total unit sales, a smaller subset of premium and high-performing models accounts for a disproportionately large share of total revenue.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indicates that revenue growth is driven more by product value than by sales volume alone.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BMW should prioritize:</a:t>
            </a:r>
          </a:p>
          <a:p>
            <a:pPr lvl="1"/>
            <a:r>
              <a:rPr lang="en-US" dirty="0"/>
              <a:t>premium model positioning</a:t>
            </a:r>
          </a:p>
          <a:p>
            <a:pPr lvl="1"/>
            <a:r>
              <a:rPr lang="en-US" dirty="0"/>
              <a:t>pricing strategy optimization</a:t>
            </a:r>
          </a:p>
          <a:p>
            <a:pPr lvl="1"/>
            <a:r>
              <a:rPr lang="en-US" dirty="0"/>
              <a:t>sustained investment in high-margin vehicle lines</a:t>
            </a:r>
          </a:p>
          <a:p>
            <a:pPr marL="0" indent="0" algn="just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Geographic markets contribute unevenly to performance</a:t>
            </a:r>
          </a:p>
          <a:p>
            <a:pPr algn="just"/>
            <a:r>
              <a:rPr lang="en-US" dirty="0"/>
              <a:t>Sales and revenue are not evenly distributed across regions. </a:t>
            </a:r>
            <a:endParaRPr lang="en-US" dirty="0" smtClean="0"/>
          </a:p>
          <a:p>
            <a:pPr algn="just"/>
            <a:r>
              <a:rPr lang="en-US" dirty="0" smtClean="0"/>
              <a:t>Certain </a:t>
            </a:r>
            <a:r>
              <a:rPr lang="en-US" dirty="0"/>
              <a:t>regions consistently outperform others in both unit sales and revenue contribution, suggesting market maturity and purchasing power differences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Business implication:</a:t>
            </a:r>
          </a:p>
          <a:p>
            <a:pPr lvl="1" algn="just"/>
            <a:r>
              <a:rPr lang="en-US" dirty="0"/>
              <a:t>High-performing regions should be protected and optimized</a:t>
            </a:r>
          </a:p>
          <a:p>
            <a:pPr lvl="1" algn="just"/>
            <a:r>
              <a:rPr lang="en-US" dirty="0"/>
              <a:t>Underperforming regions represent opportunities for targeted marketing, localized pricing, or product realignment</a:t>
            </a:r>
          </a:p>
          <a:p>
            <a:pPr marL="0" indent="0" algn="just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267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Average revenue highlights product efficiency</a:t>
            </a:r>
          </a:p>
          <a:p>
            <a:pPr algn="just"/>
            <a:r>
              <a:rPr lang="en-US" dirty="0"/>
              <a:t>The average revenue metric reveals that not all sales contribute equally to financial performance. </a:t>
            </a:r>
            <a:endParaRPr lang="en-US" dirty="0" smtClean="0"/>
          </a:p>
          <a:p>
            <a:pPr algn="just"/>
            <a:r>
              <a:rPr lang="en-US" dirty="0" smtClean="0"/>
              <a:t>Models </a:t>
            </a:r>
            <a:r>
              <a:rPr lang="en-US" dirty="0"/>
              <a:t>with lower sales volume can still outperform others financially due to higher unit prices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r>
              <a:rPr lang="en-US" dirty="0" smtClean="0"/>
              <a:t>Business implication: </a:t>
            </a:r>
          </a:p>
          <a:p>
            <a:pPr lvl="1" algn="just"/>
            <a:r>
              <a:rPr lang="en-US" dirty="0" smtClean="0"/>
              <a:t>Strategic </a:t>
            </a:r>
            <a:r>
              <a:rPr lang="en-US" dirty="0"/>
              <a:t>decisions should not rely solely on unit sales but should incorporate average revenue per model to guide portfolio decisions.</a:t>
            </a:r>
          </a:p>
          <a:p>
            <a:pPr marL="0" indent="0" algn="just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662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Stable time trends support forecasting</a:t>
            </a:r>
          </a:p>
          <a:p>
            <a:pPr algn="just"/>
            <a:r>
              <a:rPr lang="en-US" dirty="0"/>
              <a:t>Sales and revenue trends over time show identifiable growth and stabilization patterns, enabling reliable forecasting and strategic </a:t>
            </a:r>
            <a:r>
              <a:rPr lang="en-US" dirty="0" smtClean="0"/>
              <a:t>planning.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Historical </a:t>
            </a:r>
            <a:r>
              <a:rPr lang="en-US" dirty="0"/>
              <a:t>performance can be confidently used for:</a:t>
            </a:r>
          </a:p>
          <a:p>
            <a:pPr lvl="1" algn="just"/>
            <a:r>
              <a:rPr lang="en-US" dirty="0"/>
              <a:t>demand forecasting</a:t>
            </a:r>
          </a:p>
          <a:p>
            <a:pPr lvl="1" algn="just"/>
            <a:r>
              <a:rPr lang="en-US" dirty="0"/>
              <a:t>production planning</a:t>
            </a:r>
          </a:p>
          <a:p>
            <a:pPr lvl="1" algn="just"/>
            <a:r>
              <a:rPr lang="en-US" dirty="0"/>
              <a:t>long-term investment decisions</a:t>
            </a:r>
          </a:p>
          <a:p>
            <a:pPr algn="just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Overall, the findings suggest that BMW’s global strategy benefits from a balanced portfolio of high-value products in mature markets while maintaining growth potential through innovation and emerging market expansion. </a:t>
            </a:r>
            <a:endParaRPr lang="en-US" sz="2800" dirty="0" smtClean="0"/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dashboard supports data-driven decision-making in pricing, market prioritization, and product strategy.</a:t>
            </a:r>
          </a:p>
          <a:p>
            <a:pPr algn="just"/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382</Words>
  <Application>Microsoft Office PowerPoint</Application>
  <PresentationFormat>On-screen Show (4:3)</PresentationFormat>
  <Paragraphs>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BMW Global Sales Analytics</vt:lpstr>
      <vt:lpstr>Project Objective</vt:lpstr>
      <vt:lpstr>Dataset Overview</vt:lpstr>
      <vt:lpstr>Star Schema Design</vt:lpstr>
      <vt:lpstr>KPIs</vt:lpstr>
      <vt:lpstr>KPIs</vt:lpstr>
      <vt:lpstr>Market Performance</vt:lpstr>
      <vt:lpstr>Market Performance</vt:lpstr>
      <vt:lpstr>Product Strategy</vt:lpstr>
      <vt:lpstr>Product Strategy</vt:lpstr>
      <vt:lpstr>Product Strategy</vt:lpstr>
      <vt:lpstr>Financial Insights</vt:lpstr>
      <vt:lpstr>Financial Insights</vt:lpstr>
      <vt:lpstr>Time Trends</vt:lpstr>
      <vt:lpstr>Key Insights</vt:lpstr>
      <vt:lpstr>Key Insights</vt:lpstr>
      <vt:lpstr>Key Insights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BMW Global Sales Analytics</dc:title>
  <dc:subject/>
  <dc:creator>Ivene Kwame</dc:creator>
  <cp:keywords/>
  <dc:description>generated using python-pptx</dc:description>
  <cp:lastModifiedBy>Ivene Kwame</cp:lastModifiedBy>
  <cp:revision>7</cp:revision>
  <dcterms:created xsi:type="dcterms:W3CDTF">2013-01-27T09:14:16Z</dcterms:created>
  <dcterms:modified xsi:type="dcterms:W3CDTF">2026-02-24T12:54:15Z</dcterms:modified>
  <cp:category/>
</cp:coreProperties>
</file>