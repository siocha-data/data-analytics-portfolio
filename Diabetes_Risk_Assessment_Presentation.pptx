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3" r:id="rId5"/>
    <p:sldId id="260" r:id="rId6"/>
    <p:sldId id="261" r:id="rId7"/>
    <p:sldId id="262" r:id="rId8"/>
    <p:sldId id="269" r:id="rId9"/>
    <p:sldId id="268" r:id="rId10"/>
    <p:sldId id="270" r:id="rId11"/>
    <p:sldId id="264" r:id="rId12"/>
    <p:sldId id="265" r:id="rId13"/>
    <p:sldId id="271" r:id="rId14"/>
    <p:sldId id="272" r:id="rId15"/>
    <p:sldId id="266" r:id="rId16"/>
    <p:sldId id="274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72" y="6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839" y="1947319"/>
            <a:ext cx="8229600" cy="3483323"/>
          </a:xfrm>
        </p:spPr>
        <p:txBody>
          <a:bodyPr>
            <a:normAutofit/>
          </a:bodyPr>
          <a:lstStyle/>
          <a:p>
            <a:r>
              <a:rPr b="1" dirty="0"/>
              <a:t>Diabetes Risk Assessment </a:t>
            </a:r>
            <a:r>
              <a:rPr b="1" dirty="0" smtClean="0"/>
              <a:t>Dashboard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000" b="1" dirty="0"/>
              <a:t>Power BI Analytics Project</a:t>
            </a:r>
            <a:r>
              <a:rPr lang="en-US" b="1" dirty="0"/>
              <a:t/>
            </a:r>
            <a:br>
              <a:rPr lang="en-US" b="1" dirty="0"/>
            </a:b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Project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Diabetes is a growing global health concern.</a:t>
            </a:r>
          </a:p>
          <a:p>
            <a:r>
              <a:rPr dirty="0"/>
              <a:t>This project analyzes diabetes risk using lifestyle and clinical data.</a:t>
            </a:r>
          </a:p>
          <a:p>
            <a:pPr marL="0" indent="0">
              <a:buNone/>
            </a:pPr>
            <a:r>
              <a:rPr b="1" dirty="0" smtClean="0"/>
              <a:t>Goal</a:t>
            </a:r>
            <a:endParaRPr lang="en-US" b="1" dirty="0" smtClean="0"/>
          </a:p>
          <a:p>
            <a:r>
              <a:rPr dirty="0" smtClean="0"/>
              <a:t>Identify </a:t>
            </a:r>
            <a:r>
              <a:rPr dirty="0"/>
              <a:t>patterns and high-risk groups using data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Project </a:t>
            </a:r>
            <a:r>
              <a:rPr sz="3600" b="1" dirty="0" smtClean="0"/>
              <a:t>Objectives</a:t>
            </a:r>
            <a:r>
              <a:rPr lang="en-US" sz="3600" b="1" dirty="0" smtClean="0"/>
              <a:t> &amp; Overview</a:t>
            </a:r>
            <a:endParaRPr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Objectives</a:t>
            </a:r>
          </a:p>
          <a:p>
            <a:pPr marL="0" indent="0">
              <a:buNone/>
            </a:pPr>
            <a:r>
              <a:rPr sz="2400" dirty="0" smtClean="0"/>
              <a:t>• </a:t>
            </a:r>
            <a:r>
              <a:rPr sz="2400" dirty="0"/>
              <a:t>Analyze lifestyle and clinical risk factors</a:t>
            </a:r>
          </a:p>
          <a:p>
            <a:pPr marL="0" indent="0">
              <a:buNone/>
            </a:pPr>
            <a:r>
              <a:rPr sz="2400" dirty="0"/>
              <a:t>• Build a star schema data model</a:t>
            </a:r>
          </a:p>
          <a:p>
            <a:pPr marL="0" indent="0">
              <a:buNone/>
            </a:pPr>
            <a:r>
              <a:rPr sz="2400" dirty="0"/>
              <a:t>• Develop interactive Power BI dashboards</a:t>
            </a:r>
          </a:p>
          <a:p>
            <a:pPr marL="0" indent="0">
              <a:buNone/>
            </a:pPr>
            <a:r>
              <a:rPr sz="2400" dirty="0"/>
              <a:t>• Extract actionable insights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Overview</a:t>
            </a:r>
          </a:p>
          <a:p>
            <a:pPr marL="0" indent="0">
              <a:buNone/>
            </a:pPr>
            <a:r>
              <a:rPr lang="en-US" sz="2400" dirty="0"/>
              <a:t>Attributes analyzed include:</a:t>
            </a:r>
          </a:p>
          <a:p>
            <a:pPr marL="0" indent="0">
              <a:buNone/>
            </a:pPr>
            <a:r>
              <a:rPr lang="en-US" sz="2400" dirty="0"/>
              <a:t>• Glucose levels</a:t>
            </a:r>
          </a:p>
          <a:p>
            <a:pPr marL="0" indent="0">
              <a:buNone/>
            </a:pPr>
            <a:r>
              <a:rPr lang="en-US" sz="2400" dirty="0"/>
              <a:t>• BMI</a:t>
            </a:r>
          </a:p>
          <a:p>
            <a:pPr marL="0" indent="0">
              <a:buNone/>
            </a:pPr>
            <a:r>
              <a:rPr lang="en-US" sz="2400" dirty="0"/>
              <a:t>• Lifestyle factors (calories intake, physical activity, family history of diabetes)</a:t>
            </a:r>
          </a:p>
          <a:p>
            <a:pPr marL="0" indent="0">
              <a:buNone/>
            </a:pPr>
            <a:r>
              <a:rPr lang="en-US" sz="2400" dirty="0"/>
              <a:t>• Outcome status (Diabetic / Non-Diabetic)</a:t>
            </a:r>
          </a:p>
          <a:p>
            <a:pPr marL="0" indent="0">
              <a:buNone/>
            </a:pPr>
            <a:endParaRPr lang="en-US" sz="2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Abstract</a:t>
            </a:r>
            <a:endParaRPr lang="en-US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This project applies data analytics techniques to assess diabetes risk using lifestyle and clinical indicators.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star schema data model was implemented in Power BI to integrate glucose levels, body mass index (BMI), lifestyle behaviors, and outcome status. </a:t>
            </a:r>
            <a:endParaRPr lang="en-US" dirty="0" smtClean="0"/>
          </a:p>
          <a:p>
            <a:r>
              <a:rPr lang="en-US" dirty="0" smtClean="0"/>
              <a:t>Interactive </a:t>
            </a:r>
            <a:r>
              <a:rPr lang="en-US" dirty="0"/>
              <a:t>dashboards were developed to explore patterns between modifiable and non-modifiable risk factors and diabetic outcomes.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findings highlight the strong association between elevated glucose, high BMI, low physical activity, and diabetes prevalence, emphasizing the role of lifestyle modification in risk reduction</a:t>
            </a:r>
          </a:p>
        </p:txBody>
      </p:sp>
    </p:spTree>
    <p:extLst>
      <p:ext uri="{BB962C8B-B14F-4D97-AF65-F5344CB8AC3E}">
        <p14:creationId xmlns:p14="http://schemas.microsoft.com/office/powerpoint/2010/main" val="1917911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741" y="103768"/>
            <a:ext cx="3891776" cy="643363"/>
          </a:xfrm>
        </p:spPr>
        <p:txBody>
          <a:bodyPr/>
          <a:lstStyle/>
          <a:p>
            <a:r>
              <a:rPr b="1" dirty="0"/>
              <a:t>Data Modeling – Star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7258" y="273050"/>
            <a:ext cx="3579541" cy="5853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b="1" dirty="0"/>
              <a:t>Fact </a:t>
            </a:r>
            <a:r>
              <a:rPr sz="2400" b="1" dirty="0" smtClean="0"/>
              <a:t>Table</a:t>
            </a:r>
            <a:endParaRPr lang="en-US" sz="2400" b="1" dirty="0" smtClean="0"/>
          </a:p>
          <a:p>
            <a:r>
              <a:rPr lang="en-US" sz="2400" dirty="0" smtClean="0"/>
              <a:t>Diabetes</a:t>
            </a:r>
            <a:r>
              <a:rPr sz="2400" dirty="0" smtClean="0"/>
              <a:t> </a:t>
            </a:r>
            <a:r>
              <a:rPr sz="2400" dirty="0"/>
              <a:t>Risk Records</a:t>
            </a:r>
          </a:p>
          <a:p>
            <a:pPr marL="0" indent="0">
              <a:buNone/>
            </a:pPr>
            <a:r>
              <a:rPr sz="2400" b="1" dirty="0" smtClean="0"/>
              <a:t>Dimensions</a:t>
            </a:r>
            <a:endParaRPr sz="2400" b="1" dirty="0"/>
          </a:p>
          <a:p>
            <a:pPr marL="0" indent="0">
              <a:buNone/>
            </a:pPr>
            <a:r>
              <a:rPr sz="2400" dirty="0"/>
              <a:t>• Person</a:t>
            </a:r>
          </a:p>
          <a:p>
            <a:pPr marL="0" indent="0">
              <a:buNone/>
            </a:pPr>
            <a:r>
              <a:rPr sz="2400" dirty="0"/>
              <a:t>• Glucose</a:t>
            </a:r>
          </a:p>
          <a:p>
            <a:pPr marL="0" indent="0">
              <a:buNone/>
            </a:pPr>
            <a:r>
              <a:rPr sz="2400" dirty="0"/>
              <a:t>• BMI</a:t>
            </a:r>
          </a:p>
          <a:p>
            <a:pPr marL="0" indent="0">
              <a:buNone/>
            </a:pPr>
            <a:r>
              <a:rPr sz="2400" dirty="0"/>
              <a:t>• Lifestyle</a:t>
            </a:r>
          </a:p>
          <a:p>
            <a:pPr marL="0" indent="0">
              <a:buNone/>
            </a:pPr>
            <a:r>
              <a:rPr sz="2400" dirty="0"/>
              <a:t>• Outcome</a:t>
            </a:r>
          </a:p>
          <a:p>
            <a:endParaRPr lang="en-US" sz="2400" dirty="0" smtClean="0"/>
          </a:p>
          <a:p>
            <a:endParaRPr sz="2400" dirty="0"/>
          </a:p>
          <a:p>
            <a:r>
              <a:rPr sz="2400" dirty="0"/>
              <a:t>Single-direction, many-to-one relationships used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6" t="20490" r="37270" b="9916"/>
          <a:stretch/>
        </p:blipFill>
        <p:spPr>
          <a:xfrm>
            <a:off x="0" y="1003610"/>
            <a:ext cx="5107259" cy="51225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Data cleaned using Power Query</a:t>
            </a:r>
          </a:p>
          <a:p>
            <a:pPr marL="0" indent="0">
              <a:buNone/>
            </a:pPr>
            <a:r>
              <a:rPr dirty="0"/>
              <a:t>• Conditional columns </a:t>
            </a:r>
            <a:r>
              <a:rPr dirty="0" smtClean="0"/>
              <a:t>created</a:t>
            </a:r>
            <a:endParaRPr lang="en-US" dirty="0" smtClean="0"/>
          </a:p>
          <a:p>
            <a:pPr marL="0" indent="0">
              <a:buNone/>
            </a:pPr>
            <a:r>
              <a:rPr dirty="0" smtClean="0"/>
              <a:t>• </a:t>
            </a:r>
            <a:r>
              <a:rPr dirty="0"/>
              <a:t>Categories defined for BMI, glucose, and lifestyle</a:t>
            </a:r>
          </a:p>
          <a:p>
            <a:pPr marL="0" indent="0">
              <a:buNone/>
            </a:pPr>
            <a:r>
              <a:rPr dirty="0"/>
              <a:t>• Errors and nulls handled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Dashboard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Total Individuals</a:t>
            </a:r>
          </a:p>
          <a:p>
            <a:pPr marL="0" indent="0">
              <a:buNone/>
            </a:pPr>
            <a:r>
              <a:rPr dirty="0"/>
              <a:t>• Total Diabetic Cases</a:t>
            </a:r>
          </a:p>
          <a:p>
            <a:pPr marL="0" indent="0">
              <a:buNone/>
            </a:pPr>
            <a:r>
              <a:rPr dirty="0"/>
              <a:t>• Diabetes Prevalence (%)</a:t>
            </a:r>
          </a:p>
          <a:p>
            <a:pPr marL="0" indent="0">
              <a:buNone/>
            </a:pPr>
            <a:r>
              <a:rPr dirty="0"/>
              <a:t>• Average Glucose (Diabetic)</a:t>
            </a:r>
          </a:p>
          <a:p>
            <a:pPr marL="0" indent="0">
              <a:buNone/>
            </a:pPr>
            <a:r>
              <a:rPr dirty="0"/>
              <a:t>• Average BMI (Diabetic)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Lifestyle Risk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High calorie intake linked to higher diabetes </a:t>
            </a:r>
            <a:r>
              <a:rPr dirty="0" smtClean="0"/>
              <a:t>risk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3" t="17459" r="56781" b="34521"/>
          <a:stretch/>
        </p:blipFill>
        <p:spPr>
          <a:xfrm>
            <a:off x="1502979" y="2260353"/>
            <a:ext cx="6600496" cy="439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58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Lifestyle Risk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smtClean="0"/>
              <a:t>• </a:t>
            </a:r>
            <a:r>
              <a:rPr dirty="0"/>
              <a:t>Low physical activity shows higher prevalence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3" t="17987" r="27336" b="20007"/>
          <a:stretch/>
        </p:blipFill>
        <p:spPr>
          <a:xfrm>
            <a:off x="393491" y="2319454"/>
            <a:ext cx="8312413" cy="421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660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Lifestyle Risk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9907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 smtClean="0"/>
              <a:t>• </a:t>
            </a:r>
            <a:r>
              <a:rPr dirty="0"/>
              <a:t>Family history amplifies </a:t>
            </a:r>
            <a:r>
              <a:rPr dirty="0" smtClean="0"/>
              <a:t>risk</a:t>
            </a:r>
            <a:endParaRPr lang="en-US" dirty="0" smtClean="0"/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17435" r="43623" b="11455"/>
          <a:stretch/>
        </p:blipFill>
        <p:spPr>
          <a:xfrm>
            <a:off x="457200" y="2061322"/>
            <a:ext cx="8106937" cy="425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167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Risk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1420"/>
            <a:ext cx="8229600" cy="53000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Matrix analysis combining:</a:t>
            </a:r>
          </a:p>
          <a:p>
            <a:pPr marL="0" indent="0">
              <a:buNone/>
            </a:pPr>
            <a:r>
              <a:rPr dirty="0"/>
              <a:t>• BMI Category</a:t>
            </a:r>
          </a:p>
          <a:p>
            <a:pPr marL="0" indent="0">
              <a:buNone/>
            </a:pPr>
            <a:r>
              <a:rPr dirty="0"/>
              <a:t>• Physical Activity </a:t>
            </a:r>
            <a:r>
              <a:rPr dirty="0" smtClean="0"/>
              <a:t>Level</a:t>
            </a:r>
            <a:endParaRPr lang="en-US" dirty="0" smtClean="0"/>
          </a:p>
          <a:p>
            <a:pPr marL="0" indent="0">
              <a:buNone/>
            </a:pPr>
            <a:endParaRPr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dirty="0"/>
          </a:p>
          <a:p>
            <a:r>
              <a:rPr dirty="0"/>
              <a:t>Identifies highest-risk population groups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9" t="17459" r="81724" b="71098"/>
          <a:stretch/>
        </p:blipFill>
        <p:spPr>
          <a:xfrm>
            <a:off x="1450428" y="2953406"/>
            <a:ext cx="6053958" cy="31951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Glucose is the strongest </a:t>
            </a:r>
            <a:r>
              <a:rPr dirty="0" smtClean="0"/>
              <a:t>predictor</a:t>
            </a:r>
            <a:endParaRPr lang="en-US" dirty="0" smtClean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2" t="17589" r="43190" b="29282"/>
          <a:stretch/>
        </p:blipFill>
        <p:spPr>
          <a:xfrm>
            <a:off x="1397875" y="2280743"/>
            <a:ext cx="7110936" cy="40279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BMI significantly influences risk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6" t="17731" r="45120" b="32000"/>
          <a:stretch/>
        </p:blipFill>
        <p:spPr>
          <a:xfrm>
            <a:off x="1198179" y="2301766"/>
            <a:ext cx="6933663" cy="382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55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 smtClean="0"/>
              <a:t> </a:t>
            </a:r>
            <a:r>
              <a:rPr sz="2800" dirty="0"/>
              <a:t>Lifestyle factors are </a:t>
            </a:r>
            <a:r>
              <a:rPr sz="2800" dirty="0" smtClean="0"/>
              <a:t>modifiable</a:t>
            </a:r>
            <a:endParaRPr lang="en-US" sz="2800" dirty="0" smtClean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endParaRPr sz="2800" dirty="0"/>
          </a:p>
          <a:p>
            <a:pPr marL="0" indent="0">
              <a:buNone/>
            </a:pPr>
            <a:r>
              <a:rPr sz="2800" dirty="0"/>
              <a:t>• Prevention strategies should target behavior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8" t="17458" r="47126" b="29412"/>
          <a:stretch/>
        </p:blipFill>
        <p:spPr>
          <a:xfrm>
            <a:off x="924910" y="2112579"/>
            <a:ext cx="6999890" cy="417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062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Observational data</a:t>
            </a:r>
          </a:p>
          <a:p>
            <a:pPr marL="0" indent="0">
              <a:buNone/>
            </a:pPr>
            <a:r>
              <a:rPr dirty="0"/>
              <a:t>• No causal inference</a:t>
            </a:r>
          </a:p>
          <a:p>
            <a:pPr marL="0" indent="0">
              <a:buNone/>
            </a:pPr>
            <a:r>
              <a:rPr dirty="0"/>
              <a:t>• Dataset assumptions may affect outcomes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Executive Summary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diabetes risk assessment dashboard provides a visual and analytical overview of factors contributing to diabetic outcomes. </a:t>
            </a:r>
            <a:endParaRPr lang="en-US" dirty="0" smtClean="0"/>
          </a:p>
          <a:p>
            <a:r>
              <a:rPr lang="en-US" dirty="0" smtClean="0"/>
              <a:t>Key </a:t>
            </a:r>
            <a:r>
              <a:rPr lang="en-US" dirty="0"/>
              <a:t>insights reveal that individuals with higher glucose levels and BMI are more likely to be diabetic, especially when combined with low physical activity and a positive family history. </a:t>
            </a:r>
            <a:endParaRPr lang="en-US" dirty="0" smtClean="0"/>
          </a:p>
          <a:p>
            <a:r>
              <a:rPr lang="en-US" dirty="0" smtClean="0"/>
              <a:t>While </a:t>
            </a:r>
            <a:r>
              <a:rPr lang="en-US" dirty="0"/>
              <a:t>age and genetic predisposition increase susceptibility, lifestyle behaviors remain the most influential modifiable risk factors.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dashboard supports data-driven health awareness and prevention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659282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Lifestyle modification is critical</a:t>
            </a:r>
          </a:p>
          <a:p>
            <a:pPr marL="0" indent="0">
              <a:buNone/>
            </a:pPr>
            <a:r>
              <a:rPr dirty="0"/>
              <a:t>• Data-driven dashboards support decision-making</a:t>
            </a:r>
          </a:p>
          <a:p>
            <a:pPr marL="0" indent="0">
              <a:buNone/>
            </a:pPr>
            <a:r>
              <a:rPr dirty="0"/>
              <a:t>• Power BI enables scalable health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460</Words>
  <Application>Microsoft Office PowerPoint</Application>
  <PresentationFormat>On-screen Show (4:3)</PresentationFormat>
  <Paragraphs>90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Diabetes Risk Assessment Dashboard Power BI Analytics Project </vt:lpstr>
      <vt:lpstr>Project Background</vt:lpstr>
      <vt:lpstr>Project Objectives &amp; Overview</vt:lpstr>
      <vt:lpstr>Abstract</vt:lpstr>
      <vt:lpstr>Data Modeling – Star Schema</vt:lpstr>
      <vt:lpstr>Data Preparation</vt:lpstr>
      <vt:lpstr>Dashboard KPIs</vt:lpstr>
      <vt:lpstr>Lifestyle Risk Analysis</vt:lpstr>
      <vt:lpstr>Lifestyle Risk Analysis</vt:lpstr>
      <vt:lpstr>Lifestyle Risk Analysis</vt:lpstr>
      <vt:lpstr>Risk Segmentation</vt:lpstr>
      <vt:lpstr>Key Insights</vt:lpstr>
      <vt:lpstr>Key Insights</vt:lpstr>
      <vt:lpstr>Key Insights</vt:lpstr>
      <vt:lpstr>Limitations</vt:lpstr>
      <vt:lpstr>Executive Summary</vt:lpstr>
      <vt:lpstr>Conclusion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Risk Assessment Dashboard Power BI Analytics Project</dc:title>
  <dc:subject/>
  <dc:creator>Ivene Kwame</dc:creator>
  <cp:keywords/>
  <dc:description>generated using python-pptx</dc:description>
  <cp:lastModifiedBy>Ivene Kwame</cp:lastModifiedBy>
  <cp:revision>10</cp:revision>
  <dcterms:created xsi:type="dcterms:W3CDTF">2013-01-27T09:14:16Z</dcterms:created>
  <dcterms:modified xsi:type="dcterms:W3CDTF">2026-02-23T18:52:54Z</dcterms:modified>
  <cp:category/>
</cp:coreProperties>
</file>